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16777315" r:id="rId2"/>
    <p:sldId id="16777321" r:id="rId3"/>
    <p:sldId id="16777323" r:id="rId4"/>
    <p:sldId id="16777322" r:id="rId5"/>
    <p:sldId id="16777313" r:id="rId6"/>
    <p:sldId id="1677732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 varScale="1">
        <p:scale>
          <a:sx n="138" d="100"/>
          <a:sy n="138" d="100"/>
        </p:scale>
        <p:origin x="17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C8D2A-E2D8-0D45-B29B-9F4B10014A00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DAB11-076D-A742-B56D-C96078BC4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2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Recent Advancements in VLA has demonstrated scaling effect in 2D policy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42755-1308-CA44-8C38-C1D0838AD5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64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EE5E-676B-1997-7F20-823A0422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8D0E2-7027-FFB6-41A7-ADB62A4AE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EA183-B168-3E40-02A5-0ABCB20FD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Recent Advancements in VLA has demonstrated scaling effect in 2D policy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D6F68-92D2-9F6A-134A-EEACFF83A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42755-1308-CA44-8C38-C1D0838AD5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40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E60C-4EA2-F10C-13D7-EE8614C6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88379-CF46-6B05-82D6-134DF3AEB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532A5C-B311-E79C-D360-DAB43FD9E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the well-known 3D policy like DP3 shows using larger encoder is harmful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18DC1-85A9-0250-D093-A2BC3615F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42755-1308-CA44-8C38-C1D0838AD5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57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4F06-B360-0E19-60CB-70D5EE7B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BAC4E-6FE0-FE25-5F3D-48AE37D21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9B299-BCC7-CCC4-01EB-A8682B6CF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the well-known 3D policy like DP3 shows using larger encoder is harmful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CB541-BC92-8C4F-5203-7FF8F1A15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42755-1308-CA44-8C38-C1D0838AD5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60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4F096-EB6F-EC31-B66D-620D8200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7BD61-29B7-9E91-96AA-D72A459E5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46344-A3CF-04C3-C56F-5966D9CEC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the well-known 3D policy like DP3 shows using larger encoder is harmful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9F156-21CD-EAE3-2F5C-A0A66B899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42755-1308-CA44-8C38-C1D0838AD5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94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D969-6443-3846-2006-F62B398D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008F6-44EA-5FC9-66FD-D9D642BB9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98F5A1-E4B2-9B65-B5D0-CF7741A7C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Besides, the </a:t>
            </a:r>
            <a:r>
              <a:rPr lang="en-US" sz="1200" b="1" dirty="0">
                <a:cs typeface="+mn-ea"/>
                <a:sym typeface="+mn-lt"/>
              </a:rPr>
              <a:t>Film</a:t>
            </a:r>
            <a:r>
              <a:rPr lang="en-US" sz="1200" dirty="0">
                <a:cs typeface="+mn-ea"/>
                <a:sym typeface="+mn-lt"/>
              </a:rPr>
              <a:t>-based </a:t>
            </a:r>
            <a:r>
              <a:rPr lang="en-US" sz="1200" b="1" dirty="0">
                <a:cs typeface="+mn-ea"/>
                <a:sym typeface="+mn-lt"/>
              </a:rPr>
              <a:t>global feature </a:t>
            </a:r>
            <a:r>
              <a:rPr lang="en-US" sz="1200" dirty="0">
                <a:cs typeface="+mn-ea"/>
                <a:sym typeface="+mn-lt"/>
              </a:rPr>
              <a:t>conditioning diffusion constrains the scaling up of its decoder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40D3F-A22B-BEDA-348F-2EDF4E67C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42755-1308-CA44-8C38-C1D0838AD5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51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79DC-B882-E6F6-9CB9-3A99379C6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6A4D1-F429-B56E-3F3A-D033FCE64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628C2-4189-E44C-75DE-4CD323A2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F285D-0732-F736-6ED2-E4F31335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15146-0381-5EED-04D9-6765A0B1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9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9C96-69A4-A46D-52B5-982416E5E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9CD12-9FB1-85CA-A1B1-2F50A9D13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D738D-6CEB-C458-7491-A9EB8FE7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93FCA-1C51-725C-5430-018F05C43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C39DB-24CF-69A0-B4FA-227F2040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73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1CA0-0770-A96E-10DC-089FFDD80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8E54E-2703-5240-C1C0-870F9D155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F0B5-95C7-7E21-9D21-5DEAAB02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68EBB-6CF2-A7E9-9DEE-1D46E06D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3F71D-10DA-66A3-3C46-EBCD6866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3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C734-D75D-3ECE-5B41-B73C7A70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A0E62-AF39-2F3C-A66C-A55DFA071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EF738-EF03-82A3-4606-FD2D4E42D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47025-93FE-24D6-CC8B-09AA2150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33A90-3BE6-5E9D-A9AF-F26F86A13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35442-3FD8-B2E1-0719-B4C93DC5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79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0763-4F84-9710-0083-B8145770F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C94B5-BAD6-FAEC-F6FD-12F8DD151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16922-84FE-9DBE-BD8D-93FB6DEC3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55D6B-E1E7-F4C9-20F0-EA0A1074A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6F34A-67A1-1BA6-D3EA-3704E65CF8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7ED33-DC53-A710-C29A-06F42E6A2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5D054-188D-00F1-AD28-F4B9DFC1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993E82-900F-3762-FD5C-0D0C5066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8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7DA4-BD21-CD00-AB01-E50E3D79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B49446-2937-9653-6093-1244759D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69A57-42A2-2EC3-E1BD-43AD82A7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CF5E38-C468-59F4-A6E8-5416972F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7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347CF1-26DA-E4A4-5454-A6B407DA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9BFF58-D7E6-0346-E2A2-654FE5DA0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1D129-FBED-D48A-4D7A-405BBFD3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5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0593-A4A3-E30A-8E32-EFA7E5B15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93932-A6BF-9829-C7BD-D4FFC2F6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623AD-30C0-9C8F-A539-FCE7D0662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54F28-AC8A-3D2A-DD49-D95562D6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E5D38-7C78-B22B-8CF3-EDE6762A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48019-F390-3DD4-50A1-EE1D2870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1E28F-E823-3A53-848C-72A581E8E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EA8E5-CFD2-CE2E-6597-F042FE05F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44012-40D7-4B08-B1EA-0A5B52125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19090-0997-E848-4515-B04C4B47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C482B-5A44-BC32-16A7-4BB61EC9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70285-F723-FF2F-C482-E137E61E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5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567B3-DF0D-B731-B913-BAF0D9584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09EDC-CB76-183F-B88C-EDAAB2DD7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0C92F-CF1B-212C-AF7D-DF803CB8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DDE3A-0E3E-6076-BF42-3A613BC2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4EB35-B934-6473-AFF3-EAB4D680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4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440BE-7CFB-0597-47D0-6A7924C10C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91F5E-1479-7F37-291F-11E6AF3C8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90C3C-80EA-580C-BD7B-9EBC3D90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022E8-AB30-554D-E20B-1CF762115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E48DE-53E3-2CD2-2DE1-56197737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4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90509B-2A7E-E478-4BBB-560ACE734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907F5-F4A4-7458-4B32-587169283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23C30-156C-A7DA-3646-1A62D279E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13A635-6F78-6B48-92C9-1659E3D488B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E533A-8658-DE80-DB53-65DA37C4C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F30DB-B191-734B-5EA5-78A13C4D9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A6EA9-0DEB-E846-84FA-5CA2F9E2B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8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34" Type="http://schemas.openxmlformats.org/officeDocument/2006/relationships/image" Target="../media/image29.png"/><Relationship Id="rId25" Type="http://schemas.openxmlformats.org/officeDocument/2006/relationships/image" Target="../media/image24.png"/><Relationship Id="rId33" Type="http://schemas.openxmlformats.org/officeDocument/2006/relationships/image" Target="../media/image810.png"/><Relationship Id="rId2" Type="http://schemas.openxmlformats.org/officeDocument/2006/relationships/notesSlide" Target="../notesSlides/notesSlide6.xml"/><Relationship Id="rId20" Type="http://schemas.openxmlformats.org/officeDocument/2006/relationships/image" Target="../media/image19.png"/><Relationship Id="rId29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3.png"/><Relationship Id="rId32" Type="http://schemas.openxmlformats.org/officeDocument/2006/relationships/image" Target="../media/image27.png"/><Relationship Id="rId23" Type="http://schemas.openxmlformats.org/officeDocument/2006/relationships/image" Target="../media/image22.png"/><Relationship Id="rId28" Type="http://schemas.openxmlformats.org/officeDocument/2006/relationships/image" Target="../media/image200.png"/><Relationship Id="rId19" Type="http://schemas.openxmlformats.org/officeDocument/2006/relationships/image" Target="../media/image710.png"/><Relationship Id="rId31" Type="http://schemas.openxmlformats.org/officeDocument/2006/relationships/image" Target="../media/image26.png"/><Relationship Id="rId4" Type="http://schemas.openxmlformats.org/officeDocument/2006/relationships/image" Target="../media/image7.png"/><Relationship Id="rId22" Type="http://schemas.openxmlformats.org/officeDocument/2006/relationships/image" Target="../media/image21.png"/><Relationship Id="rId27" Type="http://schemas.openxmlformats.org/officeDocument/2006/relationships/image" Target="../media/image190.png"/><Relationship Id="rId30" Type="http://schemas.openxmlformats.org/officeDocument/2006/relationships/image" Target="../media/image220.png"/><Relationship Id="rId35" Type="http://schemas.openxmlformats.org/officeDocument/2006/relationships/image" Target="../media/image9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FCE6-3358-EA37-FBA9-272FB66C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4452F8CD-4347-6176-7320-8E01AA32386C}"/>
              </a:ext>
            </a:extLst>
          </p:cNvPr>
          <p:cNvSpPr txBox="1">
            <a:spLocks/>
          </p:cNvSpPr>
          <p:nvPr/>
        </p:nvSpPr>
        <p:spPr>
          <a:xfrm>
            <a:off x="33147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2D</a:t>
            </a:r>
            <a:r>
              <a:rPr kumimoji="1" lang="zh-CN" altLang="en-US" sz="2800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Policy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FA4544-4802-101C-BE3D-68E458581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673" y="1468938"/>
            <a:ext cx="7870646" cy="3228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CD9503-002D-ECC0-D4C5-9B1610FF596E}"/>
              </a:ext>
            </a:extLst>
          </p:cNvPr>
          <p:cNvSpPr txBox="1"/>
          <p:nvPr/>
        </p:nvSpPr>
        <p:spPr>
          <a:xfrm>
            <a:off x="4308544" y="4840365"/>
            <a:ext cx="3574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2D Policy (e.g., </a:t>
            </a:r>
            <a:r>
              <a:rPr lang="en-US" dirty="0">
                <a:cs typeface="+mn-ea"/>
                <a:sym typeface="+mn-lt"/>
              </a:rPr>
              <a:t>Diffusion Policy </a:t>
            </a:r>
            <a:r>
              <a:rPr lang="en-US" baseline="30000" dirty="0">
                <a:cs typeface="+mn-ea"/>
                <a:sym typeface="+mn-lt"/>
              </a:rPr>
              <a:t>[1]</a:t>
            </a:r>
            <a:r>
              <a:rPr lang="en-US" altLang="zh-CN" dirty="0">
                <a:cs typeface="+mn-ea"/>
                <a:sym typeface="+mn-lt"/>
              </a:rPr>
              <a:t> )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CAAA1-298A-8360-DEBD-9B2B9AD68A79}"/>
              </a:ext>
            </a:extLst>
          </p:cNvPr>
          <p:cNvSpPr txBox="1"/>
          <p:nvPr/>
        </p:nvSpPr>
        <p:spPr>
          <a:xfrm>
            <a:off x="0" y="6457049"/>
            <a:ext cx="5118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+mn-ea"/>
                <a:sym typeface="+mn-lt"/>
              </a:rPr>
              <a:t>[1]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Diffusion policy: Visuomotor policy learning via action diffusion.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79211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26BA-F9B9-A14B-144E-5929A524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3B9D7136-2A0D-2711-DF97-A0A21038AB65}"/>
              </a:ext>
            </a:extLst>
          </p:cNvPr>
          <p:cNvSpPr txBox="1">
            <a:spLocks/>
          </p:cNvSpPr>
          <p:nvPr/>
        </p:nvSpPr>
        <p:spPr>
          <a:xfrm>
            <a:off x="33147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2D</a:t>
            </a:r>
            <a:r>
              <a:rPr kumimoji="1" lang="zh-CN" altLang="en-US" sz="2800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Policy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DCA258-4103-18C0-4C5A-D78BD0662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15" y="1719271"/>
            <a:ext cx="4890547" cy="2005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DF9A22-0387-8D19-3C12-CFDE75FCA92D}"/>
              </a:ext>
            </a:extLst>
          </p:cNvPr>
          <p:cNvSpPr txBox="1"/>
          <p:nvPr/>
        </p:nvSpPr>
        <p:spPr>
          <a:xfrm>
            <a:off x="923466" y="4002070"/>
            <a:ext cx="3574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2D Policy (e.g., </a:t>
            </a:r>
            <a:r>
              <a:rPr lang="en-US" dirty="0">
                <a:cs typeface="+mn-ea"/>
                <a:sym typeface="+mn-lt"/>
              </a:rPr>
              <a:t>Diffusion Policy </a:t>
            </a:r>
            <a:r>
              <a:rPr lang="en-US" baseline="30000" dirty="0">
                <a:cs typeface="+mn-ea"/>
                <a:sym typeface="+mn-lt"/>
              </a:rPr>
              <a:t>[1]</a:t>
            </a:r>
            <a:r>
              <a:rPr lang="en-US" altLang="zh-CN" dirty="0">
                <a:cs typeface="+mn-ea"/>
                <a:sym typeface="+mn-lt"/>
              </a:rPr>
              <a:t> )</a:t>
            </a:r>
            <a:endParaRPr lang="en-US" dirty="0">
              <a:cs typeface="+mn-ea"/>
              <a:sym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4F777D-9C00-A7C0-EBFD-CF49D1C43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969" y="1652653"/>
            <a:ext cx="4304127" cy="22585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5CDB7C-6280-BDC6-53F0-ABD24C3C7AE8}"/>
                  </a:ext>
                </a:extLst>
              </p:cNvPr>
              <p:cNvSpPr txBox="1"/>
              <p:nvPr/>
            </p:nvSpPr>
            <p:spPr>
              <a:xfrm>
                <a:off x="8826115" y="4002070"/>
                <a:ext cx="20865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cs typeface="+mn-ea"/>
                    <a:sym typeface="+mn-lt"/>
                  </a:rPr>
                  <a:t>2D VLA (e.g.,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𝜋</m:t>
                    </m:r>
                  </m:oMath>
                </a14:m>
                <a:r>
                  <a:rPr lang="en-US" dirty="0">
                    <a:cs typeface="+mn-ea"/>
                    <a:sym typeface="+mn-lt"/>
                  </a:rPr>
                  <a:t>0 </a:t>
                </a:r>
                <a:r>
                  <a:rPr lang="en-US" baseline="30000" dirty="0">
                    <a:cs typeface="+mn-ea"/>
                    <a:sym typeface="+mn-lt"/>
                  </a:rPr>
                  <a:t>[2]</a:t>
                </a:r>
                <a:r>
                  <a:rPr lang="en-US" altLang="zh-CN" dirty="0">
                    <a:cs typeface="+mn-ea"/>
                    <a:sym typeface="+mn-lt"/>
                  </a:rPr>
                  <a:t>)</a:t>
                </a:r>
                <a:endParaRPr 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59A893-CFF7-8CE7-826A-F6C978E0E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6115" y="4002070"/>
                <a:ext cx="2086566" cy="369332"/>
              </a:xfrm>
              <a:prstGeom prst="rect">
                <a:avLst/>
              </a:prstGeom>
              <a:blipFill>
                <a:blip r:embed="rId7"/>
                <a:stretch>
                  <a:fillRect l="-3030" t="-10000" r="-606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BFE9E00-E536-4026-9D3A-199B27A372B8}"/>
              </a:ext>
            </a:extLst>
          </p:cNvPr>
          <p:cNvSpPr txBox="1"/>
          <p:nvPr/>
        </p:nvSpPr>
        <p:spPr>
          <a:xfrm>
            <a:off x="5719093" y="2423875"/>
            <a:ext cx="1628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Scaling</a:t>
            </a:r>
            <a:endParaRPr lang="en-US" dirty="0">
              <a:cs typeface="+mn-ea"/>
              <a:sym typeface="+mn-lt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C92A80D-A5B3-B6CE-1266-09B9C82C40D0}"/>
              </a:ext>
            </a:extLst>
          </p:cNvPr>
          <p:cNvCxnSpPr>
            <a:cxnSpLocks/>
          </p:cNvCxnSpPr>
          <p:nvPr/>
        </p:nvCxnSpPr>
        <p:spPr>
          <a:xfrm>
            <a:off x="5444535" y="2962439"/>
            <a:ext cx="16282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791E6D6-F2D2-E8CD-06D5-F8765BB79B7A}"/>
              </a:ext>
            </a:extLst>
          </p:cNvPr>
          <p:cNvSpPr txBox="1"/>
          <p:nvPr/>
        </p:nvSpPr>
        <p:spPr>
          <a:xfrm>
            <a:off x="0" y="6223133"/>
            <a:ext cx="5118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+mn-ea"/>
                <a:sym typeface="+mn-lt"/>
              </a:rPr>
              <a:t>[1]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Diffusion policy: Visuomotor policy learning via action diffusion.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D65EA5-F164-3287-F913-63EDDD4CC632}"/>
                  </a:ext>
                </a:extLst>
              </p:cNvPr>
              <p:cNvSpPr txBox="1"/>
              <p:nvPr/>
            </p:nvSpPr>
            <p:spPr>
              <a:xfrm>
                <a:off x="-7614" y="6550223"/>
                <a:ext cx="55856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cs typeface="+mn-ea"/>
                    <a:sym typeface="+mn-lt"/>
                  </a:rPr>
                  <a:t>[2]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𝜋</m:t>
                    </m:r>
                  </m:oMath>
                </a14:m>
                <a:r>
                  <a:rPr lang="en-US" sz="1400" dirty="0">
                    <a:cs typeface="+mn-ea"/>
                    <a:sym typeface="+mn-lt"/>
                  </a:rPr>
                  <a:t>0</a:t>
                </a:r>
                <a:r>
                  <a:rPr lang="en-US" sz="1400" dirty="0">
                    <a:cs typeface="+mn-ea"/>
                  </a:rPr>
                  <a:t>: A Vision-Language-Action Flow Model for General Robot Control.</a:t>
                </a:r>
                <a:endParaRPr lang="en-US" sz="1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5AAE6-2D4B-A754-8D19-36F38C07A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14" y="6550223"/>
                <a:ext cx="5585696" cy="307777"/>
              </a:xfrm>
              <a:prstGeom prst="rect">
                <a:avLst/>
              </a:prstGeom>
              <a:blipFill>
                <a:blip r:embed="rId8"/>
                <a:stretch>
                  <a:fillRect l="-227" t="-41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B062992D-AA95-3DF0-36B3-2AC0FE0129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4658" y="4576041"/>
            <a:ext cx="521208" cy="5212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4CC37D-8ECC-8D47-A017-9913F599546C}"/>
              </a:ext>
            </a:extLst>
          </p:cNvPr>
          <p:cNvSpPr txBox="1"/>
          <p:nvPr/>
        </p:nvSpPr>
        <p:spPr>
          <a:xfrm>
            <a:off x="5719093" y="4618986"/>
            <a:ext cx="1819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Scaled-up Data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E95BEF-8738-096D-9DDA-25CE9BD4EF40}"/>
              </a:ext>
            </a:extLst>
          </p:cNvPr>
          <p:cNvSpPr txBox="1"/>
          <p:nvPr/>
        </p:nvSpPr>
        <p:spPr>
          <a:xfrm>
            <a:off x="5719093" y="5396973"/>
            <a:ext cx="2804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+mn-ea"/>
                <a:sym typeface="+mn-lt"/>
              </a:rPr>
              <a:t>Scaled-up Architecture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421C4A-3EDB-2C2D-C928-EB1F25920C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8361" y="5314799"/>
            <a:ext cx="521208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461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C5036-582D-B57B-82B9-CF27135F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EDC53A34-B823-6649-47D3-759496347185}"/>
              </a:ext>
            </a:extLst>
          </p:cNvPr>
          <p:cNvSpPr txBox="1">
            <a:spLocks/>
          </p:cNvSpPr>
          <p:nvPr/>
        </p:nvSpPr>
        <p:spPr>
          <a:xfrm>
            <a:off x="6096000" y="27662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How to Scale 3D</a:t>
            </a:r>
            <a:r>
              <a:rPr kumimoji="1" lang="zh-CN" altLang="en-US" sz="2800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Policy Learning?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F897AF3-C0F2-83DA-4BAC-7BCEA1C5F958}"/>
              </a:ext>
            </a:extLst>
          </p:cNvPr>
          <p:cNvSpPr txBox="1">
            <a:spLocks/>
          </p:cNvSpPr>
          <p:nvPr/>
        </p:nvSpPr>
        <p:spPr>
          <a:xfrm>
            <a:off x="459061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2D</a:t>
            </a:r>
            <a:r>
              <a:rPr kumimoji="1" lang="zh-CN" altLang="en-US" sz="2800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Policy Learning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D7CD447-BDBA-0FB6-9352-3A13DB6C22E1}"/>
              </a:ext>
            </a:extLst>
          </p:cNvPr>
          <p:cNvCxnSpPr>
            <a:cxnSpLocks/>
          </p:cNvCxnSpPr>
          <p:nvPr/>
        </p:nvCxnSpPr>
        <p:spPr>
          <a:xfrm>
            <a:off x="4147363" y="3429000"/>
            <a:ext cx="16282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6038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10BA2-EABC-8264-8ED0-B4ADC1ACA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59B201E-2998-F2EB-9038-618B75C92F33}"/>
              </a:ext>
            </a:extLst>
          </p:cNvPr>
          <p:cNvSpPr txBox="1"/>
          <p:nvPr/>
        </p:nvSpPr>
        <p:spPr>
          <a:xfrm>
            <a:off x="4875685" y="5434020"/>
            <a:ext cx="2440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3D Policy (e.g., DP3</a:t>
            </a:r>
            <a:r>
              <a:rPr lang="en-US" dirty="0">
                <a:cs typeface="+mn-ea"/>
                <a:sym typeface="+mn-lt"/>
              </a:rPr>
              <a:t> </a:t>
            </a:r>
            <a:r>
              <a:rPr lang="en-US" baseline="30000" dirty="0">
                <a:cs typeface="+mn-ea"/>
                <a:sym typeface="+mn-lt"/>
              </a:rPr>
              <a:t>[1]</a:t>
            </a:r>
            <a:r>
              <a:rPr lang="en-US" altLang="zh-CN" dirty="0">
                <a:cs typeface="+mn-ea"/>
                <a:sym typeface="+mn-lt"/>
              </a:rPr>
              <a:t> )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1A45B-D9A3-5D88-605B-21C1BFC390F8}"/>
              </a:ext>
            </a:extLst>
          </p:cNvPr>
          <p:cNvSpPr txBox="1"/>
          <p:nvPr/>
        </p:nvSpPr>
        <p:spPr>
          <a:xfrm>
            <a:off x="0" y="6550223"/>
            <a:ext cx="7343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+mn-ea"/>
                <a:sym typeface="+mn-lt"/>
              </a:rPr>
              <a:t>[1] 3D Diffusion Policy: Generalizable Visuomotor Policy Learning via Simple 3D Representations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B4008-A3EC-0333-9BE5-8C7C6B9E4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238" y="1432186"/>
            <a:ext cx="7263518" cy="3993627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EA2A4A5-E87C-0676-12A7-BC210FC8D75C}"/>
              </a:ext>
            </a:extLst>
          </p:cNvPr>
          <p:cNvSpPr txBox="1">
            <a:spLocks/>
          </p:cNvSpPr>
          <p:nvPr/>
        </p:nvSpPr>
        <p:spPr>
          <a:xfrm>
            <a:off x="406400" y="225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How to Scale 3D</a:t>
            </a:r>
            <a:r>
              <a:rPr kumimoji="1" lang="zh-CN" altLang="en-US" sz="2800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Policy Learning?</a:t>
            </a:r>
          </a:p>
        </p:txBody>
      </p:sp>
    </p:spTree>
    <p:extLst>
      <p:ext uri="{BB962C8B-B14F-4D97-AF65-F5344CB8AC3E}">
        <p14:creationId xmlns:p14="http://schemas.microsoft.com/office/powerpoint/2010/main" val="2203149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AE8C0-BAF8-E965-2330-4DA76F16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377A329-45C1-A826-8A63-F4F0C52652AA}"/>
              </a:ext>
            </a:extLst>
          </p:cNvPr>
          <p:cNvSpPr txBox="1">
            <a:spLocks/>
          </p:cNvSpPr>
          <p:nvPr/>
        </p:nvSpPr>
        <p:spPr>
          <a:xfrm>
            <a:off x="320181" y="371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How to Scale 3D</a:t>
            </a:r>
            <a:r>
              <a:rPr kumimoji="1" lang="zh-CN" altLang="en-US" sz="2800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Policy Learning?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F91389-F982-FDAB-ED34-ECF5AD15D5D6}"/>
              </a:ext>
            </a:extLst>
          </p:cNvPr>
          <p:cNvSpPr txBox="1"/>
          <p:nvPr/>
        </p:nvSpPr>
        <p:spPr>
          <a:xfrm>
            <a:off x="1397599" y="4140569"/>
            <a:ext cx="2440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3D Policy (e.g., DP3</a:t>
            </a:r>
            <a:r>
              <a:rPr lang="en-US" dirty="0">
                <a:cs typeface="+mn-ea"/>
                <a:sym typeface="+mn-lt"/>
              </a:rPr>
              <a:t> </a:t>
            </a:r>
            <a:r>
              <a:rPr lang="en-US" baseline="30000" dirty="0">
                <a:cs typeface="+mn-ea"/>
                <a:sym typeface="+mn-lt"/>
              </a:rPr>
              <a:t>[1]</a:t>
            </a:r>
            <a:r>
              <a:rPr lang="en-US" altLang="zh-CN" dirty="0">
                <a:cs typeface="+mn-ea"/>
                <a:sym typeface="+mn-lt"/>
              </a:rPr>
              <a:t> )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685A4-BE35-B65C-A14C-8DE62459B5A8}"/>
              </a:ext>
            </a:extLst>
          </p:cNvPr>
          <p:cNvSpPr txBox="1"/>
          <p:nvPr/>
        </p:nvSpPr>
        <p:spPr>
          <a:xfrm>
            <a:off x="5281851" y="2435875"/>
            <a:ext cx="1628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+mn-ea"/>
                <a:sym typeface="+mn-lt"/>
              </a:rPr>
              <a:t>Scaling?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FDFBE21-27B0-566C-D503-6E69F8F29924}"/>
              </a:ext>
            </a:extLst>
          </p:cNvPr>
          <p:cNvCxnSpPr>
            <a:cxnSpLocks/>
          </p:cNvCxnSpPr>
          <p:nvPr/>
        </p:nvCxnSpPr>
        <p:spPr>
          <a:xfrm>
            <a:off x="5281851" y="2973727"/>
            <a:ext cx="967554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AD89C8-0EDE-CFA6-FC53-9D08C140D0BE}"/>
              </a:ext>
            </a:extLst>
          </p:cNvPr>
          <p:cNvSpPr txBox="1"/>
          <p:nvPr/>
        </p:nvSpPr>
        <p:spPr>
          <a:xfrm>
            <a:off x="0" y="6550223"/>
            <a:ext cx="7343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+mn-ea"/>
                <a:sym typeface="+mn-lt"/>
              </a:rPr>
              <a:t>[1] 3D Diffusion Policy: Generalizable Visuomotor Policy Learning via Simple 3D Representations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F05CFC-C438-175C-CE55-54BF47C1E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04" y="1490147"/>
            <a:ext cx="4490430" cy="24689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150D2EA-0BBA-7168-907B-8CB42AC09E89}"/>
              </a:ext>
            </a:extLst>
          </p:cNvPr>
          <p:cNvSpPr txBox="1"/>
          <p:nvPr/>
        </p:nvSpPr>
        <p:spPr>
          <a:xfrm>
            <a:off x="7317750" y="4186736"/>
            <a:ext cx="4456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DP3</a:t>
            </a:r>
            <a:r>
              <a:rPr lang="en-US" dirty="0">
                <a:cs typeface="+mn-ea"/>
                <a:sym typeface="+mn-lt"/>
              </a:rPr>
              <a:t> </a:t>
            </a:r>
            <a:r>
              <a:rPr lang="en-US" altLang="zh-CN" baseline="30000" dirty="0">
                <a:cs typeface="+mn-ea"/>
                <a:sym typeface="+mn-lt"/>
              </a:rPr>
              <a:t>[1]</a:t>
            </a:r>
            <a:r>
              <a:rPr lang="en-US" altLang="zh-CN" dirty="0">
                <a:cs typeface="+mn-ea"/>
                <a:sym typeface="+mn-lt"/>
              </a:rPr>
              <a:t> uses a</a:t>
            </a:r>
            <a:r>
              <a:rPr lang="en-US" dirty="0">
                <a:cs typeface="+mn-ea"/>
                <a:sym typeface="+mn-lt"/>
              </a:rPr>
              <a:t> </a:t>
            </a:r>
            <a:r>
              <a:rPr lang="en-US" b="1" dirty="0">
                <a:solidFill>
                  <a:srgbClr val="C00000"/>
                </a:solidFill>
                <a:cs typeface="+mn-ea"/>
                <a:sym typeface="+mn-lt"/>
              </a:rPr>
              <a:t>tiny</a:t>
            </a:r>
            <a:r>
              <a:rPr lang="en-US" dirty="0">
                <a:cs typeface="+mn-ea"/>
                <a:sym typeface="+mn-lt"/>
              </a:rPr>
              <a:t> </a:t>
            </a:r>
            <a:r>
              <a:rPr lang="en-US" dirty="0" err="1">
                <a:cs typeface="+mn-ea"/>
                <a:sym typeface="+mn-lt"/>
              </a:rPr>
              <a:t>PointNet</a:t>
            </a:r>
            <a:r>
              <a:rPr lang="en-US" dirty="0">
                <a:cs typeface="+mn-ea"/>
                <a:sym typeface="+mn-lt"/>
              </a:rPr>
              <a:t> </a:t>
            </a:r>
            <a:r>
              <a:rPr lang="en-US" b="1" dirty="0">
                <a:solidFill>
                  <a:srgbClr val="C00000"/>
                </a:solidFill>
                <a:cs typeface="+mn-ea"/>
                <a:sym typeface="+mn-lt"/>
              </a:rPr>
              <a:t>encoder</a:t>
            </a:r>
          </a:p>
          <a:p>
            <a:pPr algn="ctr"/>
            <a:r>
              <a:rPr lang="en-US" altLang="zh-CN" b="1" dirty="0">
                <a:solidFill>
                  <a:srgbClr val="C00000"/>
                </a:solidFill>
                <a:cs typeface="+mn-ea"/>
                <a:sym typeface="+mn-lt"/>
              </a:rPr>
              <a:t>and scaling up to larger</a:t>
            </a:r>
            <a:r>
              <a:rPr lang="en-US" altLang="zh-CN" dirty="0">
                <a:solidFill>
                  <a:srgbClr val="C00000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encoders is </a:t>
            </a:r>
            <a:r>
              <a:rPr lang="en-US" altLang="zh-CN" b="1" dirty="0">
                <a:solidFill>
                  <a:srgbClr val="C00000"/>
                </a:solidFill>
                <a:cs typeface="+mn-ea"/>
                <a:sym typeface="+mn-lt"/>
              </a:rPr>
              <a:t>harmful</a:t>
            </a:r>
            <a:endParaRPr lang="en-US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95171A6-80B2-9DFE-BA84-76423FB6C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253" y="1604021"/>
            <a:ext cx="5454188" cy="25281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673B407-6030-CCDD-18D3-02A837D1D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658" y="5207056"/>
            <a:ext cx="565883" cy="5212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DD35822-406A-FA78-E58F-1B7CAF0FD013}"/>
              </a:ext>
            </a:extLst>
          </p:cNvPr>
          <p:cNvSpPr txBox="1"/>
          <p:nvPr/>
        </p:nvSpPr>
        <p:spPr>
          <a:xfrm>
            <a:off x="5604746" y="5214284"/>
            <a:ext cx="2466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Can’t scale up encoder</a:t>
            </a:r>
            <a:endParaRPr 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06762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6318-BF15-68C0-C90D-F44368AC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BB6717F6-93EA-5B34-6C7A-AFA4988DD4A8}"/>
              </a:ext>
            </a:extLst>
          </p:cNvPr>
          <p:cNvSpPr txBox="1">
            <a:spLocks/>
          </p:cNvSpPr>
          <p:nvPr/>
        </p:nvSpPr>
        <p:spPr>
          <a:xfrm>
            <a:off x="320181" y="371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How to Scale 3D</a:t>
            </a:r>
            <a:r>
              <a:rPr kumimoji="1" lang="zh-CN" altLang="en-US" sz="2800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1" dirty="0">
                <a:latin typeface="+mn-lt"/>
                <a:ea typeface="+mn-ea"/>
                <a:cs typeface="+mn-ea"/>
                <a:sym typeface="+mn-lt"/>
              </a:rPr>
              <a:t>Policy Learning?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18090-561C-67DF-42F3-88A4342C15B7}"/>
              </a:ext>
            </a:extLst>
          </p:cNvPr>
          <p:cNvSpPr txBox="1"/>
          <p:nvPr/>
        </p:nvSpPr>
        <p:spPr>
          <a:xfrm>
            <a:off x="923466" y="4002070"/>
            <a:ext cx="3891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3D Policy (e.g., 3D </a:t>
            </a:r>
            <a:r>
              <a:rPr lang="en-US" dirty="0">
                <a:cs typeface="+mn-ea"/>
                <a:sym typeface="+mn-lt"/>
              </a:rPr>
              <a:t>Diffusion Policy </a:t>
            </a:r>
            <a:r>
              <a:rPr lang="en-US" baseline="30000" dirty="0">
                <a:cs typeface="+mn-ea"/>
                <a:sym typeface="+mn-lt"/>
              </a:rPr>
              <a:t>[1]</a:t>
            </a:r>
            <a:r>
              <a:rPr lang="en-US" altLang="zh-CN" dirty="0">
                <a:cs typeface="+mn-ea"/>
                <a:sym typeface="+mn-lt"/>
              </a:rPr>
              <a:t> )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C35A42-363C-81B4-20BC-1B760A2FE2E2}"/>
              </a:ext>
            </a:extLst>
          </p:cNvPr>
          <p:cNvSpPr txBox="1"/>
          <p:nvPr/>
        </p:nvSpPr>
        <p:spPr>
          <a:xfrm>
            <a:off x="5281851" y="2435875"/>
            <a:ext cx="1628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+mn-ea"/>
                <a:sym typeface="+mn-lt"/>
              </a:rPr>
              <a:t>Scaling?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7C8EA81-4AE6-AD20-616C-8B529846AA15}"/>
              </a:ext>
            </a:extLst>
          </p:cNvPr>
          <p:cNvCxnSpPr>
            <a:cxnSpLocks/>
          </p:cNvCxnSpPr>
          <p:nvPr/>
        </p:nvCxnSpPr>
        <p:spPr>
          <a:xfrm>
            <a:off x="5281851" y="2973727"/>
            <a:ext cx="967554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F238F1-7C54-7C5F-6E3D-BAC06E035908}"/>
              </a:ext>
            </a:extLst>
          </p:cNvPr>
          <p:cNvSpPr txBox="1"/>
          <p:nvPr/>
        </p:nvSpPr>
        <p:spPr>
          <a:xfrm>
            <a:off x="0" y="6550223"/>
            <a:ext cx="7343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+mn-ea"/>
                <a:sym typeface="+mn-lt"/>
              </a:rPr>
              <a:t>[1] 3D Diffusion Policy: Generalizable Visuomotor Policy Learning via Simple 3D Representations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C81D7-8E4B-748A-1950-A1BA4630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04" y="1490147"/>
            <a:ext cx="4490430" cy="24689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D762186-5629-0CBA-33A8-03BDA6A6E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658" y="5207056"/>
            <a:ext cx="565883" cy="5212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5FBAA69-EDC5-58C4-C8E3-828C2993A25F}"/>
              </a:ext>
            </a:extLst>
          </p:cNvPr>
          <p:cNvSpPr txBox="1"/>
          <p:nvPr/>
        </p:nvSpPr>
        <p:spPr>
          <a:xfrm>
            <a:off x="5604746" y="5214284"/>
            <a:ext cx="2466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Can’t scale up encoder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21109-AD76-EE35-B9A2-C325E4E3B415}"/>
              </a:ext>
            </a:extLst>
          </p:cNvPr>
          <p:cNvSpPr txBox="1"/>
          <p:nvPr/>
        </p:nvSpPr>
        <p:spPr>
          <a:xfrm>
            <a:off x="5604746" y="5964833"/>
            <a:ext cx="2466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Can’t scale up decoder</a:t>
            </a:r>
            <a:endParaRPr lang="en-US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19B187-BBFC-A6E3-5C3E-4CD33E551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658" y="5868523"/>
            <a:ext cx="565883" cy="5212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2F1123-0D56-3EC7-97E5-A3A1A40C01FA}"/>
              </a:ext>
            </a:extLst>
          </p:cNvPr>
          <p:cNvSpPr txBox="1"/>
          <p:nvPr/>
        </p:nvSpPr>
        <p:spPr>
          <a:xfrm>
            <a:off x="6579622" y="4600677"/>
            <a:ext cx="5684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cs typeface="+mn-ea"/>
                <a:sym typeface="+mn-lt"/>
              </a:rPr>
              <a:t>   </a:t>
            </a:r>
            <a:r>
              <a:rPr lang="en-US" sz="1600" b="1" dirty="0">
                <a:cs typeface="+mn-ea"/>
                <a:sym typeface="+mn-lt"/>
              </a:rPr>
              <a:t>Film</a:t>
            </a:r>
            <a:r>
              <a:rPr lang="en-US" sz="1600" dirty="0">
                <a:cs typeface="+mn-ea"/>
                <a:sym typeface="+mn-lt"/>
              </a:rPr>
              <a:t>-based </a:t>
            </a:r>
            <a:r>
              <a:rPr lang="en-US" sz="1600" b="1" dirty="0">
                <a:cs typeface="+mn-ea"/>
                <a:sym typeface="+mn-lt"/>
              </a:rPr>
              <a:t>global feature</a:t>
            </a:r>
            <a:r>
              <a:rPr lang="en-US" sz="1600" dirty="0">
                <a:cs typeface="+mn-ea"/>
                <a:sym typeface="+mn-lt"/>
              </a:rPr>
              <a:t> conditioning diffusion (DP</a:t>
            </a:r>
            <a:r>
              <a:rPr lang="en-US" altLang="zh-CN" sz="1600" dirty="0">
                <a:cs typeface="+mn-ea"/>
                <a:sym typeface="+mn-lt"/>
              </a:rPr>
              <a:t>3</a:t>
            </a:r>
            <a:r>
              <a:rPr lang="en-US" altLang="zh-CN" sz="1600" baseline="30000" dirty="0">
                <a:cs typeface="+mn-ea"/>
                <a:sym typeface="+mn-lt"/>
              </a:rPr>
              <a:t> [1]</a:t>
            </a:r>
            <a:r>
              <a:rPr lang="en-US" altLang="zh-CN" sz="1600" dirty="0">
                <a:cs typeface="+mn-ea"/>
                <a:sym typeface="+mn-lt"/>
              </a:rPr>
              <a:t>)</a:t>
            </a:r>
            <a:endParaRPr lang="en-US" sz="1600" dirty="0">
              <a:cs typeface="+mn-ea"/>
              <a:sym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F8A4EC-B522-0DDA-F4A9-775DD1B6F138}"/>
              </a:ext>
            </a:extLst>
          </p:cNvPr>
          <p:cNvGrpSpPr/>
          <p:nvPr/>
        </p:nvGrpSpPr>
        <p:grpSpPr>
          <a:xfrm>
            <a:off x="6599464" y="355213"/>
            <a:ext cx="5168721" cy="4156972"/>
            <a:chOff x="60602" y="827399"/>
            <a:chExt cx="5168721" cy="415697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BFEE481-2BE6-37C6-7812-1E815FDAA080}"/>
                </a:ext>
              </a:extLst>
            </p:cNvPr>
            <p:cNvGrpSpPr/>
            <p:nvPr/>
          </p:nvGrpSpPr>
          <p:grpSpPr>
            <a:xfrm>
              <a:off x="103203" y="2031656"/>
              <a:ext cx="502213" cy="2744909"/>
              <a:chOff x="853150" y="1197175"/>
              <a:chExt cx="502213" cy="274490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594936C6-7B07-4465-D733-A4074D65285D}"/>
                  </a:ext>
                </a:extLst>
              </p:cNvPr>
              <p:cNvSpPr/>
              <p:nvPr/>
            </p:nvSpPr>
            <p:spPr>
              <a:xfrm>
                <a:off x="853150" y="1197175"/>
                <a:ext cx="502213" cy="274490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86A5385E-0017-343C-B44E-D5CFE4196F0A}"/>
                  </a:ext>
                </a:extLst>
              </p:cNvPr>
              <p:cNvSpPr/>
              <p:nvPr/>
            </p:nvSpPr>
            <p:spPr>
              <a:xfrm>
                <a:off x="907487" y="1266624"/>
                <a:ext cx="393540" cy="13079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7ED71335-7D96-0D9A-660A-9FA71610D1C2}"/>
                  </a:ext>
                </a:extLst>
              </p:cNvPr>
              <p:cNvSpPr/>
              <p:nvPr/>
            </p:nvSpPr>
            <p:spPr>
              <a:xfrm>
                <a:off x="907487" y="2634144"/>
                <a:ext cx="393540" cy="13079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8D962B-ECA0-FE61-C361-2FE96F04B232}"/>
                </a:ext>
              </a:extLst>
            </p:cNvPr>
            <p:cNvSpPr/>
            <p:nvPr/>
          </p:nvSpPr>
          <p:spPr>
            <a:xfrm rot="5400000">
              <a:off x="2558831" y="219591"/>
              <a:ext cx="502213" cy="266228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249030-4196-4FAE-0C5D-9A507E842D81}"/>
                </a:ext>
              </a:extLst>
            </p:cNvPr>
            <p:cNvSpPr/>
            <p:nvPr/>
          </p:nvSpPr>
          <p:spPr>
            <a:xfrm rot="5400000">
              <a:off x="3434024" y="1148104"/>
              <a:ext cx="393540" cy="80526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5F11E2-1D5E-F570-B35D-5A6C7B42C49F}"/>
                </a:ext>
              </a:extLst>
            </p:cNvPr>
            <p:cNvSpPr/>
            <p:nvPr/>
          </p:nvSpPr>
          <p:spPr>
            <a:xfrm rot="5400000">
              <a:off x="2168156" y="747077"/>
              <a:ext cx="393540" cy="16073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E634502-FCAC-9216-18C1-0E3A72E3A1CA}"/>
                    </a:ext>
                  </a:extLst>
                </p:cNvPr>
                <p:cNvSpPr txBox="1"/>
                <p:nvPr/>
              </p:nvSpPr>
              <p:spPr>
                <a:xfrm>
                  <a:off x="3454366" y="1354090"/>
                  <a:ext cx="4127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18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BF184F1E-CB0B-8A61-C98F-202B1C34F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4366" y="1354090"/>
                  <a:ext cx="412750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F38ED7D-99E3-EB3C-CAF6-E2AD8149C701}"/>
                    </a:ext>
                  </a:extLst>
                </p:cNvPr>
                <p:cNvSpPr txBox="1"/>
                <p:nvPr/>
              </p:nvSpPr>
              <p:spPr>
                <a:xfrm rot="16200000">
                  <a:off x="2934631" y="-66115"/>
                  <a:ext cx="468462" cy="2255489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en-US" altLang="zh-CN" sz="180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+mn-lt"/>
                    </a:rPr>
                    <a:t>Global 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+mn-lt"/>
                    </a:rPr>
                    <a:t>Observation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+mn-lt"/>
                    </a:rPr>
                    <a:t> 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+mn-lt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𝑂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DFA5317A-EFF0-9BAE-4996-BEAEB0E47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34631" y="-66115"/>
                  <a:ext cx="468462" cy="2255489"/>
                </a:xfrm>
                <a:prstGeom prst="rect">
                  <a:avLst/>
                </a:prstGeom>
                <a:blipFill>
                  <a:blip r:embed="rId20"/>
                  <a:stretch>
                    <a:fillRect l="-4494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3F981E-0DC8-22FC-377E-047A0D481A97}"/>
                </a:ext>
              </a:extLst>
            </p:cNvPr>
            <p:cNvSpPr/>
            <p:nvPr/>
          </p:nvSpPr>
          <p:spPr>
            <a:xfrm rot="5400000">
              <a:off x="4083745" y="1439436"/>
              <a:ext cx="502215" cy="222601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DE69E43-3DEC-F436-3B69-C5199DB878C4}"/>
                    </a:ext>
                  </a:extLst>
                </p:cNvPr>
                <p:cNvSpPr txBox="1"/>
                <p:nvPr/>
              </p:nvSpPr>
              <p:spPr>
                <a:xfrm>
                  <a:off x="4223551" y="1438092"/>
                  <a:ext cx="222601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k</m:t>
                        </m:r>
                      </m:oMath>
                    </m:oMathPara>
                  </a14:m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771FB811-4C7C-1763-3065-980AC12449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551" y="1438092"/>
                  <a:ext cx="222601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16667" r="-16667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5B89C29-FE79-DC61-FB2C-FC9F438C4E8E}"/>
                </a:ext>
              </a:extLst>
            </p:cNvPr>
            <p:cNvCxnSpPr>
              <a:cxnSpLocks/>
            </p:cNvCxnSpPr>
            <p:nvPr/>
          </p:nvCxnSpPr>
          <p:spPr>
            <a:xfrm>
              <a:off x="605416" y="3450609"/>
              <a:ext cx="342708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6F2D701-FC0C-4D22-D46D-2BBD15B0B892}"/>
                </a:ext>
              </a:extLst>
            </p:cNvPr>
            <p:cNvSpPr/>
            <p:nvPr/>
          </p:nvSpPr>
          <p:spPr>
            <a:xfrm>
              <a:off x="950906" y="2666048"/>
              <a:ext cx="457342" cy="15988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9464893-F7E4-D538-ED1D-85CF4BC4EDA5}"/>
                    </a:ext>
                  </a:extLst>
                </p:cNvPr>
                <p:cNvSpPr txBox="1"/>
                <p:nvPr/>
              </p:nvSpPr>
              <p:spPr>
                <a:xfrm>
                  <a:off x="951385" y="2722072"/>
                  <a:ext cx="461665" cy="1501903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</m:oMath>
                  </a14:m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  <a:sym typeface="+mn-lt"/>
                    </a:rPr>
                    <a:t>: Action Emb</a:t>
                  </a:r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5C4C04A6-ABD9-5847-8151-8B33A9280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385" y="2722072"/>
                  <a:ext cx="461665" cy="1501903"/>
                </a:xfrm>
                <a:prstGeom prst="rect">
                  <a:avLst/>
                </a:prstGeom>
                <a:blipFill>
                  <a:blip r:embed="rId22"/>
                  <a:stretch>
                    <a:fillRect l="-10811" t="-840" b="-25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925E86B-4820-2E06-2793-6A078ABE4367}"/>
                </a:ext>
              </a:extLst>
            </p:cNvPr>
            <p:cNvSpPr txBox="1"/>
            <p:nvPr/>
          </p:nvSpPr>
          <p:spPr>
            <a:xfrm>
              <a:off x="558392" y="3517826"/>
              <a:ext cx="461665" cy="87230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Conv1D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C0CF1FB-DBA8-D534-1935-7ACD28F79881}"/>
                </a:ext>
              </a:extLst>
            </p:cNvPr>
            <p:cNvCxnSpPr>
              <a:cxnSpLocks/>
            </p:cNvCxnSpPr>
            <p:nvPr/>
          </p:nvCxnSpPr>
          <p:spPr>
            <a:xfrm>
              <a:off x="1408248" y="3441972"/>
              <a:ext cx="342708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2E06BBD-09CB-8736-A461-04E1C3E2EA16}"/>
                </a:ext>
              </a:extLst>
            </p:cNvPr>
            <p:cNvSpPr/>
            <p:nvPr/>
          </p:nvSpPr>
          <p:spPr>
            <a:xfrm>
              <a:off x="1774324" y="2665958"/>
              <a:ext cx="457342" cy="15988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3283E20-42BE-B2EB-A6ED-5A7AD592DFD6}"/>
                    </a:ext>
                  </a:extLst>
                </p:cNvPr>
                <p:cNvSpPr txBox="1"/>
                <p:nvPr/>
              </p:nvSpPr>
              <p:spPr>
                <a:xfrm>
                  <a:off x="1774803" y="2721982"/>
                  <a:ext cx="461665" cy="1501903"/>
                </a:xfrm>
                <a:prstGeom prst="rect">
                  <a:avLst/>
                </a:prstGeom>
                <a:noFill/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 vert="eaVert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𝛽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•</m:t>
                        </m:r>
                        <m:r>
                          <a:rPr lang="zh-CN" alt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zh-CN" alt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𝛾</m:t>
                        </m:r>
                      </m:oMath>
                    </m:oMathPara>
                  </a14:m>
                  <a:endParaRPr lang="en-US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09723BEF-AA20-3606-4EA5-37B5B2321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4803" y="2721982"/>
                  <a:ext cx="461665" cy="150190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12577E4-153D-1159-01F3-9E360DA2D5AB}"/>
                </a:ext>
              </a:extLst>
            </p:cNvPr>
            <p:cNvCxnSpPr>
              <a:cxnSpLocks/>
            </p:cNvCxnSpPr>
            <p:nvPr/>
          </p:nvCxnSpPr>
          <p:spPr>
            <a:xfrm>
              <a:off x="2231666" y="3441882"/>
              <a:ext cx="342708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D797A1C-61E1-030B-CD25-0140368151D8}"/>
                </a:ext>
              </a:extLst>
            </p:cNvPr>
            <p:cNvGrpSpPr/>
            <p:nvPr/>
          </p:nvGrpSpPr>
          <p:grpSpPr>
            <a:xfrm>
              <a:off x="2584581" y="2675329"/>
              <a:ext cx="462144" cy="1598824"/>
              <a:chOff x="1207222" y="2009749"/>
              <a:chExt cx="462144" cy="1598824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8EC39D9-DB60-3E17-65BE-480C69898744}"/>
                  </a:ext>
                </a:extLst>
              </p:cNvPr>
              <p:cNvSpPr/>
              <p:nvPr/>
            </p:nvSpPr>
            <p:spPr>
              <a:xfrm>
                <a:off x="1207222" y="2009749"/>
                <a:ext cx="457342" cy="15988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D18C43B6-AEF6-264B-1515-60D0284E32D5}"/>
                      </a:ext>
                    </a:extLst>
                  </p:cNvPr>
                  <p:cNvSpPr txBox="1"/>
                  <p:nvPr/>
                </p:nvSpPr>
                <p:spPr>
                  <a:xfrm>
                    <a:off x="1207701" y="2065773"/>
                    <a:ext cx="461665" cy="1501903"/>
                  </a:xfrm>
                  <a:prstGeom prst="rect">
                    <a:avLst/>
                  </a:prstGeom>
                  <a:noFill/>
                </p:spPr>
                <p:txBody>
                  <a:bodyPr vert="eaVert"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</m:oMath>
                    </a14:m>
                    <a: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lt"/>
                      </a:rPr>
                      <a:t>: Action Emb</a:t>
                    </a:r>
                    <a:endParaRPr lang="en-US">
                      <a:latin typeface="Times New Roman" panose="02020603050405020304" pitchFamily="18" charset="0"/>
                      <a:cs typeface="Times New Roman" panose="02020603050405020304" pitchFamily="18" charset="0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78" name="TextBox 177">
                    <a:extLst>
                      <a:ext uri="{FF2B5EF4-FFF2-40B4-BE49-F238E27FC236}">
                        <a16:creationId xmlns:a16="http://schemas.microsoft.com/office/drawing/2014/main" id="{052533CC-48EC-9CCC-A9D8-097798646A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7701" y="2065773"/>
                    <a:ext cx="461665" cy="150190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8108" t="-840" b="-252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19F5287-C5F7-424B-0E9A-9F4E6F3A7693}"/>
                </a:ext>
              </a:extLst>
            </p:cNvPr>
            <p:cNvCxnSpPr>
              <a:cxnSpLocks/>
            </p:cNvCxnSpPr>
            <p:nvPr/>
          </p:nvCxnSpPr>
          <p:spPr>
            <a:xfrm>
              <a:off x="3061566" y="3437663"/>
              <a:ext cx="342708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36DF8BE-EA3F-6065-6555-E1C45234161C}"/>
                </a:ext>
              </a:extLst>
            </p:cNvPr>
            <p:cNvSpPr/>
            <p:nvPr/>
          </p:nvSpPr>
          <p:spPr>
            <a:xfrm>
              <a:off x="3427642" y="2661649"/>
              <a:ext cx="457342" cy="15988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D215B31-308B-9389-BDDA-1B1D31E34297}"/>
                    </a:ext>
                  </a:extLst>
                </p:cNvPr>
                <p:cNvSpPr txBox="1"/>
                <p:nvPr/>
              </p:nvSpPr>
              <p:spPr>
                <a:xfrm>
                  <a:off x="3428121" y="2717673"/>
                  <a:ext cx="461665" cy="1501903"/>
                </a:xfrm>
                <a:prstGeom prst="rect">
                  <a:avLst/>
                </a:prstGeom>
                <a:noFill/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 vert="eaVert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𝛽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•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𝛾</m:t>
                        </m:r>
                      </m:oMath>
                    </m:oMathPara>
                  </a14:m>
                  <a:endParaRPr 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9812DB64-08A5-4B38-2CA7-E8CBB6C6A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121" y="2717673"/>
                  <a:ext cx="461665" cy="1501903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614E7F1-B44B-8945-B3DD-EC1369D4C55B}"/>
                </a:ext>
              </a:extLst>
            </p:cNvPr>
            <p:cNvCxnSpPr>
              <a:cxnSpLocks/>
            </p:cNvCxnSpPr>
            <p:nvPr/>
          </p:nvCxnSpPr>
          <p:spPr>
            <a:xfrm>
              <a:off x="3884984" y="3437573"/>
              <a:ext cx="633235" cy="9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2BBDECB-F311-85DE-658A-A3DFF830AB23}"/>
                </a:ext>
              </a:extLst>
            </p:cNvPr>
            <p:cNvSpPr txBox="1"/>
            <p:nvPr/>
          </p:nvSpPr>
          <p:spPr>
            <a:xfrm>
              <a:off x="1342194" y="3513917"/>
              <a:ext cx="461665" cy="87230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Conv1D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F0CEC5B-2608-E25F-157E-99B06ABBA65B}"/>
                </a:ext>
              </a:extLst>
            </p:cNvPr>
            <p:cNvSpPr txBox="1"/>
            <p:nvPr/>
          </p:nvSpPr>
          <p:spPr>
            <a:xfrm>
              <a:off x="2160522" y="3524357"/>
              <a:ext cx="461665" cy="87230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Conv1D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F918543-E52A-1143-0464-D898044A4420}"/>
                </a:ext>
              </a:extLst>
            </p:cNvPr>
            <p:cNvSpPr txBox="1"/>
            <p:nvPr/>
          </p:nvSpPr>
          <p:spPr>
            <a:xfrm>
              <a:off x="2975371" y="3524356"/>
              <a:ext cx="461665" cy="87230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Conv1D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85715E3-3337-30AF-29E1-62EFDE90B2FA}"/>
                </a:ext>
              </a:extLst>
            </p:cNvPr>
            <p:cNvSpPr txBox="1"/>
            <p:nvPr/>
          </p:nvSpPr>
          <p:spPr>
            <a:xfrm>
              <a:off x="3831106" y="3524355"/>
              <a:ext cx="461665" cy="87230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Conv1D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D9FF8C8-16BA-AC12-D165-064A1B78DD58}"/>
                </a:ext>
              </a:extLst>
            </p:cNvPr>
            <p:cNvGrpSpPr/>
            <p:nvPr/>
          </p:nvGrpSpPr>
          <p:grpSpPr>
            <a:xfrm>
              <a:off x="4563459" y="2040191"/>
              <a:ext cx="502213" cy="2744909"/>
              <a:chOff x="853150" y="1197175"/>
              <a:chExt cx="502213" cy="2744909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C6C02C0-1D56-33FF-5182-A4CC33123D44}"/>
                  </a:ext>
                </a:extLst>
              </p:cNvPr>
              <p:cNvSpPr/>
              <p:nvPr/>
            </p:nvSpPr>
            <p:spPr>
              <a:xfrm>
                <a:off x="853150" y="1197175"/>
                <a:ext cx="502213" cy="274490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16A65618-D725-4121-2C0A-B95F4468B267}"/>
                  </a:ext>
                </a:extLst>
              </p:cNvPr>
              <p:cNvSpPr/>
              <p:nvPr/>
            </p:nvSpPr>
            <p:spPr>
              <a:xfrm>
                <a:off x="907487" y="1266624"/>
                <a:ext cx="393540" cy="13079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DB738B4-2D78-631F-8CD9-D656626DB5F9}"/>
                  </a:ext>
                </a:extLst>
              </p:cNvPr>
              <p:cNvSpPr/>
              <p:nvPr/>
            </p:nvSpPr>
            <p:spPr>
              <a:xfrm>
                <a:off x="907487" y="2634144"/>
                <a:ext cx="393540" cy="13079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6BB75C80-7470-4D00-E457-2ED3668ACA75}"/>
                </a:ext>
              </a:extLst>
            </p:cNvPr>
            <p:cNvCxnSpPr>
              <a:cxnSpLocks/>
              <a:stCxn id="79" idx="2"/>
              <a:endCxn id="84" idx="2"/>
            </p:cNvCxnSpPr>
            <p:nvPr/>
          </p:nvCxnSpPr>
          <p:spPr>
            <a:xfrm rot="5400000" flipH="1">
              <a:off x="2580170" y="2550705"/>
              <a:ext cx="8535" cy="4460256"/>
            </a:xfrm>
            <a:prstGeom prst="bentConnector3">
              <a:avLst>
                <a:gd name="adj1" fmla="val -2678383"/>
              </a:avLst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CCCB882-0482-9638-4E63-794664270D09}"/>
                    </a:ext>
                  </a:extLst>
                </p:cNvPr>
                <p:cNvSpPr txBox="1"/>
                <p:nvPr/>
              </p:nvSpPr>
              <p:spPr>
                <a:xfrm>
                  <a:off x="2468433" y="4707372"/>
                  <a:ext cx="62684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zh-CN" b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+mn-lt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𝐾</m:t>
                      </m:r>
                    </m:oMath>
                  </a14:m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CC488F6F-6D23-BA23-AFAF-7B9FD7B1E8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8433" y="4707372"/>
                  <a:ext cx="62684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2000" t="-21739" b="-478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EFB5C26-D122-8D58-7381-076E06DBA15C}"/>
                </a:ext>
              </a:extLst>
            </p:cNvPr>
            <p:cNvSpPr txBox="1"/>
            <p:nvPr/>
          </p:nvSpPr>
          <p:spPr>
            <a:xfrm>
              <a:off x="4019298" y="3012746"/>
              <a:ext cx="340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…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FBDAB8B-8DBF-3268-E498-68EF45DED0FD}"/>
                </a:ext>
              </a:extLst>
            </p:cNvPr>
            <p:cNvCxnSpPr>
              <a:cxnSpLocks/>
            </p:cNvCxnSpPr>
            <p:nvPr/>
          </p:nvCxnSpPr>
          <p:spPr>
            <a:xfrm>
              <a:off x="2018158" y="1818903"/>
              <a:ext cx="0" cy="184654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BC6B1A7-C6D7-5E19-2DB9-A952B1420F34}"/>
                </a:ext>
              </a:extLst>
            </p:cNvPr>
            <p:cNvGrpSpPr/>
            <p:nvPr/>
          </p:nvGrpSpPr>
          <p:grpSpPr>
            <a:xfrm>
              <a:off x="1459183" y="1977867"/>
              <a:ext cx="1078320" cy="827047"/>
              <a:chOff x="1637494" y="1302300"/>
              <a:chExt cx="1078320" cy="827047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D1980F07-F4A9-07ED-6C0F-C9C0F38C18A8}"/>
                  </a:ext>
                </a:extLst>
              </p:cNvPr>
              <p:cNvCxnSpPr>
                <a:cxnSpLocks/>
                <a:stCxn id="69" idx="2"/>
                <a:endCxn id="28" idx="0"/>
              </p:cNvCxnSpPr>
              <p:nvPr/>
            </p:nvCxnSpPr>
            <p:spPr>
              <a:xfrm>
                <a:off x="1740802" y="1876679"/>
                <a:ext cx="443145" cy="169736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19BA4082-D3C0-0C37-D164-973422D659E0}"/>
                  </a:ext>
                </a:extLst>
              </p:cNvPr>
              <p:cNvGrpSpPr/>
              <p:nvPr/>
            </p:nvGrpSpPr>
            <p:grpSpPr>
              <a:xfrm>
                <a:off x="1637494" y="1302300"/>
                <a:ext cx="1078320" cy="827047"/>
                <a:chOff x="1637494" y="1302300"/>
                <a:chExt cx="1078320" cy="827047"/>
              </a:xfrm>
            </p:grpSpPr>
            <p:sp>
              <p:nvSpPr>
                <p:cNvPr id="68" name="Trapezoid 67">
                  <a:extLst>
                    <a:ext uri="{FF2B5EF4-FFF2-40B4-BE49-F238E27FC236}">
                      <a16:creationId xmlns:a16="http://schemas.microsoft.com/office/drawing/2014/main" id="{245BB78C-4493-9DC4-5862-F84DB089F83C}"/>
                    </a:ext>
                  </a:extLst>
                </p:cNvPr>
                <p:cNvSpPr/>
                <p:nvPr/>
              </p:nvSpPr>
              <p:spPr>
                <a:xfrm rot="10800000">
                  <a:off x="1844739" y="1344665"/>
                  <a:ext cx="673133" cy="234873"/>
                </a:xfrm>
                <a:prstGeom prst="trapezoid">
                  <a:avLst>
                    <a:gd name="adj" fmla="val 55206"/>
                  </a:avLst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1A69EDC3-995F-0242-0277-BC43DD89CE89}"/>
                    </a:ext>
                  </a:extLst>
                </p:cNvPr>
                <p:cNvSpPr/>
                <p:nvPr/>
              </p:nvSpPr>
              <p:spPr>
                <a:xfrm>
                  <a:off x="1657104" y="1636329"/>
                  <a:ext cx="167396" cy="24035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B476F34F-5FD5-46BD-03F3-6D03E2928783}"/>
                    </a:ext>
                  </a:extLst>
                </p:cNvPr>
                <p:cNvSpPr/>
                <p:nvPr/>
              </p:nvSpPr>
              <p:spPr>
                <a:xfrm>
                  <a:off x="2517950" y="1631397"/>
                  <a:ext cx="167396" cy="24035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  <p:cxnSp>
              <p:nvCxnSpPr>
                <p:cNvPr id="71" name="Straight Arrow Connector 70">
                  <a:extLst>
                    <a:ext uri="{FF2B5EF4-FFF2-40B4-BE49-F238E27FC236}">
                      <a16:creationId xmlns:a16="http://schemas.microsoft.com/office/drawing/2014/main" id="{6B0CD184-6C60-8BA8-3D2C-FFAAE4246114}"/>
                    </a:ext>
                  </a:extLst>
                </p:cNvPr>
                <p:cNvCxnSpPr>
                  <a:cxnSpLocks/>
                  <a:stCxn id="70" idx="2"/>
                  <a:endCxn id="28" idx="0"/>
                </p:cNvCxnSpPr>
                <p:nvPr/>
              </p:nvCxnSpPr>
              <p:spPr>
                <a:xfrm flipH="1">
                  <a:off x="2183947" y="1871747"/>
                  <a:ext cx="417701" cy="174668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5F9C687D-0F5E-8F9B-9D57-2F48B9155129}"/>
                    </a:ext>
                  </a:extLst>
                </p:cNvPr>
                <p:cNvCxnSpPr>
                  <a:cxnSpLocks/>
                  <a:stCxn id="68" idx="3"/>
                  <a:endCxn id="69" idx="0"/>
                </p:cNvCxnSpPr>
                <p:nvPr/>
              </p:nvCxnSpPr>
              <p:spPr>
                <a:xfrm flipH="1">
                  <a:off x="1740802" y="1462101"/>
                  <a:ext cx="168769" cy="174228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EAC0A2DA-58AC-1E59-6DA4-7536135596B5}"/>
                    </a:ext>
                  </a:extLst>
                </p:cNvPr>
                <p:cNvCxnSpPr>
                  <a:cxnSpLocks/>
                  <a:stCxn id="68" idx="1"/>
                  <a:endCxn id="70" idx="0"/>
                </p:cNvCxnSpPr>
                <p:nvPr/>
              </p:nvCxnSpPr>
              <p:spPr>
                <a:xfrm>
                  <a:off x="2453040" y="1462101"/>
                  <a:ext cx="148608" cy="169296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F0F8707-90D8-A8C1-5F68-480B41EC7C0B}"/>
                    </a:ext>
                  </a:extLst>
                </p:cNvPr>
                <p:cNvSpPr txBox="1"/>
                <p:nvPr/>
              </p:nvSpPr>
              <p:spPr>
                <a:xfrm>
                  <a:off x="1863607" y="1302300"/>
                  <a:ext cx="65804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400">
                      <a:latin typeface="Times New Roman" panose="02020603050405020304" pitchFamily="18" charset="0"/>
                      <a:cs typeface="Times New Roman" panose="02020603050405020304" pitchFamily="18" charset="0"/>
                      <a:sym typeface="+mn-lt"/>
                    </a:rPr>
                    <a:t>Linear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TextBox 74">
                      <a:extLst>
                        <a:ext uri="{FF2B5EF4-FFF2-40B4-BE49-F238E27FC236}">
                          <a16:creationId xmlns:a16="http://schemas.microsoft.com/office/drawing/2014/main" id="{53664301-CA02-76CF-9022-5303853B5D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37494" y="1598324"/>
                      <a:ext cx="2226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𝛽</m:t>
                            </m:r>
                          </m:oMath>
                        </m:oMathPara>
                      </a14:m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426" name="TextBox 425">
                      <a:extLst>
                        <a:ext uri="{FF2B5EF4-FFF2-40B4-BE49-F238E27FC236}">
                          <a16:creationId xmlns:a16="http://schemas.microsoft.com/office/drawing/2014/main" id="{EFCBAEDE-52E9-33BF-B2F3-DD33E579F92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37494" y="1598324"/>
                      <a:ext cx="222601" cy="276999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 l="-32432" t="-2222" r="-27027" b="-3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TextBox 75">
                      <a:extLst>
                        <a:ext uri="{FF2B5EF4-FFF2-40B4-BE49-F238E27FC236}">
                          <a16:creationId xmlns:a16="http://schemas.microsoft.com/office/drawing/2014/main" id="{B26EAF25-0E14-CF63-254D-B2E5988BED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93213" y="1575349"/>
                      <a:ext cx="222601" cy="5539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𝛾</m:t>
                            </m:r>
                          </m:oMath>
                        </m:oMathPara>
                      </a14:m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lt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427" name="TextBox 426">
                      <a:extLst>
                        <a:ext uri="{FF2B5EF4-FFF2-40B4-BE49-F238E27FC236}">
                          <a16:creationId xmlns:a16="http://schemas.microsoft.com/office/drawing/2014/main" id="{64320E81-9752-7843-62E6-9E130A664F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93213" y="1575349"/>
                      <a:ext cx="222601" cy="553998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l="-16667" r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911A970-01D6-0EA5-149F-A49BE9501E57}"/>
                </a:ext>
              </a:extLst>
            </p:cNvPr>
            <p:cNvCxnSpPr>
              <a:cxnSpLocks/>
            </p:cNvCxnSpPr>
            <p:nvPr/>
          </p:nvCxnSpPr>
          <p:spPr>
            <a:xfrm>
              <a:off x="3666267" y="1818903"/>
              <a:ext cx="0" cy="17253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6D999FA-8CA6-ED43-EB6F-0D95BAC7236D}"/>
                </a:ext>
              </a:extLst>
            </p:cNvPr>
            <p:cNvGrpSpPr/>
            <p:nvPr/>
          </p:nvGrpSpPr>
          <p:grpSpPr>
            <a:xfrm>
              <a:off x="3114375" y="1974498"/>
              <a:ext cx="1084867" cy="744115"/>
              <a:chOff x="1641163" y="1302300"/>
              <a:chExt cx="1084867" cy="744115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EDAF43E8-B26F-E5C6-6A03-6D4FFF7FF603}"/>
                  </a:ext>
                </a:extLst>
              </p:cNvPr>
              <p:cNvCxnSpPr>
                <a:cxnSpLocks/>
                <a:stCxn id="58" idx="2"/>
              </p:cNvCxnSpPr>
              <p:nvPr/>
            </p:nvCxnSpPr>
            <p:spPr>
              <a:xfrm>
                <a:off x="1740802" y="1876679"/>
                <a:ext cx="443145" cy="169736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AE74E611-7682-DDFC-7D5E-13E5A354D8AA}"/>
                  </a:ext>
                </a:extLst>
              </p:cNvPr>
              <p:cNvGrpSpPr/>
              <p:nvPr/>
            </p:nvGrpSpPr>
            <p:grpSpPr>
              <a:xfrm>
                <a:off x="1641163" y="1302300"/>
                <a:ext cx="1084867" cy="744115"/>
                <a:chOff x="1641163" y="1302300"/>
                <a:chExt cx="1084867" cy="744115"/>
              </a:xfrm>
            </p:grpSpPr>
            <p:sp>
              <p:nvSpPr>
                <p:cNvPr id="57" name="Trapezoid 56">
                  <a:extLst>
                    <a:ext uri="{FF2B5EF4-FFF2-40B4-BE49-F238E27FC236}">
                      <a16:creationId xmlns:a16="http://schemas.microsoft.com/office/drawing/2014/main" id="{04FD49E2-0523-35D3-CE47-045C4784BAE4}"/>
                    </a:ext>
                  </a:extLst>
                </p:cNvPr>
                <p:cNvSpPr/>
                <p:nvPr/>
              </p:nvSpPr>
              <p:spPr>
                <a:xfrm rot="10800000">
                  <a:off x="1844739" y="1344665"/>
                  <a:ext cx="673133" cy="234873"/>
                </a:xfrm>
                <a:prstGeom prst="trapezoid">
                  <a:avLst>
                    <a:gd name="adj" fmla="val 55206"/>
                  </a:avLst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97552585-235E-B438-13EC-B34CC6DDF048}"/>
                    </a:ext>
                  </a:extLst>
                </p:cNvPr>
                <p:cNvSpPr/>
                <p:nvPr/>
              </p:nvSpPr>
              <p:spPr>
                <a:xfrm>
                  <a:off x="1657104" y="1636329"/>
                  <a:ext cx="167396" cy="24035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32DF91C9-9A04-D477-A9E2-0731CAEA7736}"/>
                    </a:ext>
                  </a:extLst>
                </p:cNvPr>
                <p:cNvSpPr/>
                <p:nvPr/>
              </p:nvSpPr>
              <p:spPr>
                <a:xfrm>
                  <a:off x="2517950" y="1631397"/>
                  <a:ext cx="167396" cy="24035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27CDF52F-C3C5-3466-29FD-A26688655CCA}"/>
                    </a:ext>
                  </a:extLst>
                </p:cNvPr>
                <p:cNvCxnSpPr>
                  <a:cxnSpLocks/>
                  <a:stCxn id="59" idx="2"/>
                </p:cNvCxnSpPr>
                <p:nvPr/>
              </p:nvCxnSpPr>
              <p:spPr>
                <a:xfrm flipH="1">
                  <a:off x="2183947" y="1871747"/>
                  <a:ext cx="417701" cy="174668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2B5853F6-5EF4-A95B-F43F-CED42C82B486}"/>
                    </a:ext>
                  </a:extLst>
                </p:cNvPr>
                <p:cNvCxnSpPr>
                  <a:cxnSpLocks/>
                  <a:stCxn id="57" idx="3"/>
                  <a:endCxn id="58" idx="0"/>
                </p:cNvCxnSpPr>
                <p:nvPr/>
              </p:nvCxnSpPr>
              <p:spPr>
                <a:xfrm flipH="1">
                  <a:off x="1740802" y="1462101"/>
                  <a:ext cx="168769" cy="174228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A0AB1064-AB3E-21B0-DC91-D8EED049A50C}"/>
                    </a:ext>
                  </a:extLst>
                </p:cNvPr>
                <p:cNvCxnSpPr>
                  <a:cxnSpLocks/>
                  <a:stCxn id="57" idx="1"/>
                  <a:endCxn id="59" idx="0"/>
                </p:cNvCxnSpPr>
                <p:nvPr/>
              </p:nvCxnSpPr>
              <p:spPr>
                <a:xfrm>
                  <a:off x="2453040" y="1462101"/>
                  <a:ext cx="148608" cy="169296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7A18E922-DEAF-6A31-98DD-B7B0C0BB8C00}"/>
                    </a:ext>
                  </a:extLst>
                </p:cNvPr>
                <p:cNvSpPr txBox="1"/>
                <p:nvPr/>
              </p:nvSpPr>
              <p:spPr>
                <a:xfrm>
                  <a:off x="1863607" y="1302300"/>
                  <a:ext cx="65804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400">
                      <a:latin typeface="Times New Roman" panose="02020603050405020304" pitchFamily="18" charset="0"/>
                      <a:cs typeface="Times New Roman" panose="02020603050405020304" pitchFamily="18" charset="0"/>
                      <a:sym typeface="+mn-lt"/>
                    </a:rPr>
                    <a:t>Linear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EC38B9B9-86B5-66DC-02AD-65E12B6858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03429" y="1578718"/>
                      <a:ext cx="2226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𝛾</m:t>
                            </m:r>
                          </m:oMath>
                        </m:oMathPara>
                      </a14:m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439" name="TextBox 438">
                      <a:extLst>
                        <a:ext uri="{FF2B5EF4-FFF2-40B4-BE49-F238E27FC236}">
                          <a16:creationId xmlns:a16="http://schemas.microsoft.com/office/drawing/2014/main" id="{C00A95F6-B547-3075-AD86-A2F01C5EC2D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03429" y="1578718"/>
                      <a:ext cx="222601" cy="276999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l="-13514" r="-13514" b="-2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AC50B2C3-957D-ECE2-F9F2-D0522CA517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41163" y="1602428"/>
                      <a:ext cx="2226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𝛽</m:t>
                            </m:r>
                          </m:oMath>
                        </m:oMathPara>
                      </a14:m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440" name="TextBox 439">
                      <a:extLst>
                        <a:ext uri="{FF2B5EF4-FFF2-40B4-BE49-F238E27FC236}">
                          <a16:creationId xmlns:a16="http://schemas.microsoft.com/office/drawing/2014/main" id="{9C9CA95A-485C-197F-674F-1170089C9F6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41163" y="1602428"/>
                      <a:ext cx="222601" cy="276999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 l="-33333" t="-2222" r="-30556" b="-3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C661309-589D-43E2-464E-206854C85108}"/>
                    </a:ext>
                  </a:extLst>
                </p:cNvPr>
                <p:cNvSpPr txBox="1"/>
                <p:nvPr/>
              </p:nvSpPr>
              <p:spPr>
                <a:xfrm>
                  <a:off x="2181297" y="1375607"/>
                  <a:ext cx="4127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𝑡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3BD6AC71-0050-C16E-AA33-1C0BA7019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1297" y="1375607"/>
                  <a:ext cx="41275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D017670-BC13-EA97-6CC6-E53349E5D215}"/>
                </a:ext>
              </a:extLst>
            </p:cNvPr>
            <p:cNvSpPr txBox="1"/>
            <p:nvPr/>
          </p:nvSpPr>
          <p:spPr>
            <a:xfrm>
              <a:off x="2507496" y="1982464"/>
              <a:ext cx="6912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FiLM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8DEB769-BBAE-57F2-54E2-5D0CEE195E9D}"/>
                    </a:ext>
                  </a:extLst>
                </p:cNvPr>
                <p:cNvSpPr txBox="1"/>
                <p:nvPr/>
              </p:nvSpPr>
              <p:spPr>
                <a:xfrm>
                  <a:off x="120984" y="2558425"/>
                  <a:ext cx="493340" cy="4103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𝐽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𝑘</m:t>
                            </m:r>
                          </m:sup>
                        </m:sSubSup>
                      </m:oMath>
                    </m:oMathPara>
                  </a14:m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E6FE8350-B4D4-9BE2-5AA4-013CA9CC6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984" y="2558425"/>
                  <a:ext cx="493340" cy="410369"/>
                </a:xfrm>
                <a:prstGeom prst="rect">
                  <a:avLst/>
                </a:prstGeom>
                <a:blipFill>
                  <a:blip r:embed="rId32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39EB957-0F22-C9AB-8D53-7048559B6E7F}"/>
                    </a:ext>
                  </a:extLst>
                </p:cNvPr>
                <p:cNvSpPr txBox="1"/>
                <p:nvPr/>
              </p:nvSpPr>
              <p:spPr>
                <a:xfrm>
                  <a:off x="60602" y="3880423"/>
                  <a:ext cx="601511" cy="3804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𝐸𝐸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𝑘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id="{D9F80635-0D93-2090-3209-4E5A20D01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02" y="3880423"/>
                  <a:ext cx="601511" cy="380425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37D90E0B-4CAD-FE44-7BDC-2C19E9CC32D8}"/>
                    </a:ext>
                  </a:extLst>
                </p:cNvPr>
                <p:cNvSpPr txBox="1"/>
                <p:nvPr/>
              </p:nvSpPr>
              <p:spPr>
                <a:xfrm>
                  <a:off x="4493848" y="2566128"/>
                  <a:ext cx="701731" cy="4230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𝐽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−1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A3E4508B-4B19-7A96-8F92-74F94FDD4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848" y="2566128"/>
                  <a:ext cx="701731" cy="42306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3204BD11-EFB7-D11B-3CC2-D8FE860A5355}"/>
                    </a:ext>
                  </a:extLst>
                </p:cNvPr>
                <p:cNvSpPr txBox="1"/>
                <p:nvPr/>
              </p:nvSpPr>
              <p:spPr>
                <a:xfrm>
                  <a:off x="4516371" y="3876870"/>
                  <a:ext cx="712952" cy="3804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𝐸𝐸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−1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7B4A014C-C08A-0074-E77C-DBDF4165A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6371" y="3876870"/>
                  <a:ext cx="712952" cy="38042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7195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378</Words>
  <Application>Microsoft Macintosh PowerPoint</Application>
  <PresentationFormat>Widescreen</PresentationFormat>
  <Paragraphs>68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Eddie</dc:creator>
  <cp:lastModifiedBy>Eddie</cp:lastModifiedBy>
  <cp:revision>1</cp:revision>
  <dcterms:created xsi:type="dcterms:W3CDTF">2026-04-10T23:40:18Z</dcterms:created>
  <dcterms:modified xsi:type="dcterms:W3CDTF">2026-04-10T23:58:11Z</dcterms:modified>
</cp:coreProperties>
</file>